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credibility: his rates are good. Then the problem is documentation, not pricing.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here. One document is the whole ask. The two free actions give him something to say yes to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914400"/>
            <a:ext cx="4023360" cy="4023360"/>
          </a:xfrm>
          <a:prstGeom prst="ellipse">
            <a:avLst/>
          </a:prstGeom>
          <a:solidFill>
            <a:srgbClr val="E0901B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 ·  WHAT WE FOUND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9692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prices are right.</a:t>
            </a:r>
            <a:endParaRPr lang="en-US" sz="38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paperwork can’t prove it.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0" b="1" dirty="0">
                <a:solidFill>
                  <a:srgbClr val="E09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8200" dirty="0"/>
          </a:p>
        </p:txBody>
      </p:sp>
      <p:sp>
        <p:nvSpPr>
          <p:cNvPr id="6" name="Text 4"/>
          <p:cNvSpPr/>
          <p:nvPr/>
        </p:nvSpPr>
        <p:spPr>
          <a:xfrm>
            <a:off x="640080" y="459028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quantities anywhere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estimate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760720" y="3364992"/>
            <a:ext cx="182880" cy="182880"/>
          </a:xfrm>
          <a:prstGeom prst="ellipse">
            <a:avLst/>
          </a:prstGeom>
          <a:solidFill>
            <a:srgbClr val="2F8250"/>
          </a:solidFill>
          <a:ln/>
        </p:spPr>
      </p:sp>
      <p:sp>
        <p:nvSpPr>
          <p:cNvPr id="8" name="Text 6"/>
          <p:cNvSpPr/>
          <p:nvPr/>
        </p:nvSpPr>
        <p:spPr>
          <a:xfrm>
            <a:off x="6108192" y="331012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Gunite  $439.56 / yd³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108192" y="360273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E9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published $350–600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60720" y="4078224"/>
            <a:ext cx="182880" cy="182880"/>
          </a:xfrm>
          <a:prstGeom prst="ellipse">
            <a:avLst/>
          </a:prstGeom>
          <a:solidFill>
            <a:srgbClr val="2F8250"/>
          </a:solidFill>
          <a:ln/>
        </p:spPr>
      </p:sp>
      <p:sp>
        <p:nvSpPr>
          <p:cNvPr id="11" name="Text 9"/>
          <p:cNvSpPr/>
          <p:nvPr/>
        </p:nvSpPr>
        <p:spPr>
          <a:xfrm>
            <a:off x="6108192" y="40233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Plaster  $87.21 / bag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08192" y="43159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E9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Diamond Brite range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760720" y="4791456"/>
            <a:ext cx="182880" cy="182880"/>
          </a:xfrm>
          <a:prstGeom prst="ellipse">
            <a:avLst/>
          </a:prstGeom>
          <a:solidFill>
            <a:srgbClr val="2F8250"/>
          </a:solidFill>
          <a:ln/>
        </p:spPr>
      </p:sp>
      <p:sp>
        <p:nvSpPr>
          <p:cNvPr id="14" name="Text 12"/>
          <p:cNvSpPr/>
          <p:nvPr/>
        </p:nvSpPr>
        <p:spPr>
          <a:xfrm>
            <a:off x="6108192" y="473659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Decking  $13.59 / sq ft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08192" y="5029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E9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published $12–18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cost-plus contracts. “Rebar — $4,000” with nothing behind it is a number you cannot defend.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every figure has a quantity behind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93776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984248"/>
            <a:ext cx="274320" cy="274320"/>
          </a:xfrm>
          <a:prstGeom prst="ellipse">
            <a:avLst/>
          </a:prstGeom>
          <a:solidFill>
            <a:srgbClr val="0E6E7C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80160" y="19659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type two numbers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96112" y="23134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× 24 pool, 6 × 6 spa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008376"/>
            <a:ext cx="493776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96112" y="3209544"/>
            <a:ext cx="274320" cy="274320"/>
          </a:xfrm>
          <a:prstGeom prst="ellipse">
            <a:avLst/>
          </a:prstGeom>
          <a:solidFill>
            <a:srgbClr val="E0901B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32095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319125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derives the quantities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96112" y="35387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887 sq ft wetted · 27.3 yd³ gunite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bags plaster · 2,041 LF of #3 bar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233672"/>
            <a:ext cx="493776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4434840"/>
            <a:ext cx="274320" cy="274320"/>
          </a:xfrm>
          <a:prstGeom prst="ellipse">
            <a:avLst/>
          </a:prstGeom>
          <a:solidFill>
            <a:srgbClr val="2F8250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434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80160" y="44165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returns your dollars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96112" y="4764024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$5,500 excavation · $12,000 gunite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$20,750 finishes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783080"/>
          <a:ext cx="55778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51560"/>
                <a:gridCol w="105156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 against your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C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C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C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C1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 Excavation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F82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 Pool shell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F82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 Pool finishes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$20,750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$20,750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F82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 Pool deck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F82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$61,552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$61,550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F82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CF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5943600" y="448056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the dimensions alone, then compared — not fitted to the answer.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40080" y="5586984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E9E5DE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60120" y="577900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document, same figures. </a:t>
            </a:r>
            <a:pPr indent="0" marL="0">
              <a:buNone/>
            </a:pPr>
            <a:r>
              <a:rPr lang="en-US" sz="1350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customers see no change and nobody has to be retrained.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FOUND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findings worth money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03520" cy="3200400"/>
          </a:xfrm>
          <a:prstGeom prst="roundRect">
            <a:avLst>
              <a:gd name="adj" fmla="val 1714"/>
            </a:avLst>
          </a:prstGeom>
          <a:solidFill>
            <a:srgbClr val="1B1C1E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09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~$13,750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87552" y="28346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pool of standard scope that is not on your estimates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7552" y="342900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Permits · geotech report · structural engineering · gas line for the heater · fill and curing water · labour burden · supervision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87552" y="4434840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you already do and are not reimbursed for.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30352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D4CFC5"/>
            </a:solidFill>
            <a:prstDash val="solid"/>
          </a:ln>
          <a:effectLst>
            <a:outerShdw sx="100000" sy="100000" kx="0" ky="0" algn="bl" rotWithShape="0" blurRad="76200" dist="12700" dir="5400000">
              <a:srgbClr val="9C9C9C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65392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Three, not five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running at once — same pools per year either way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65392" y="342900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one crew, and it is fully loaded at three jobs. A fourth and fifth do not produce more pools — they add about five weeks of waiting for every customer, and more supervision time for you.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65392" y="4434840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2F8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act on, starting this week.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45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needs a decision from you. The second just needs you to stop starting a fourth job.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931920"/>
            <a:ext cx="3657600" cy="3657600"/>
          </a:xfrm>
          <a:prstGeom prst="ellipse">
            <a:avLst/>
          </a:prstGeom>
          <a:solidFill>
            <a:srgbClr val="E0901B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E09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thing I need from you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9509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E09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cost-plus agreement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9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can see what it defines as reimbursable cost. Every dollar of that $13,750 waits on this one document — expanding what counts as cost beyond what the contract allows is not something to guess at.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9E9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two things that cost nothing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654296"/>
            <a:ext cx="310896" cy="310896"/>
          </a:xfrm>
          <a:prstGeom prst="ellipse">
            <a:avLst/>
          </a:prstGeom>
          <a:solidFill>
            <a:srgbClr val="E0901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4654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15568" y="46177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 builds at three at a time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394960" y="46360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E9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output, five weeks faster for every customer.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312664"/>
            <a:ext cx="310896" cy="310896"/>
          </a:xfrm>
          <a:prstGeom prst="ellipse">
            <a:avLst/>
          </a:prstGeom>
          <a:solidFill>
            <a:srgbClr val="E0901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5312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15568" y="52760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crew days on the next two jobs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94960" y="529437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E9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per phase. Turns the capacity picture into fact.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Apex — the short version</dc:title>
  <dc:subject>PptxGenJS Presentation</dc:subject>
  <dc:creator>Apex</dc:creator>
  <cp:lastModifiedBy>Apex</cp:lastModifiedBy>
  <cp:revision>1</cp:revision>
  <dcterms:created xsi:type="dcterms:W3CDTF">2026-07-27T01:20:26Z</dcterms:created>
  <dcterms:modified xsi:type="dcterms:W3CDTF">2026-07-27T01:20:26Z</dcterms:modified>
</cp:coreProperties>
</file>