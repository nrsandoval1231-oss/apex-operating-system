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4585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4585E"/>
                </a:solidFill>
                <a:latin typeface="Calibri"/>
              </a:rPr>
              <a:t>Pools completed per year, by jobs in flight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Pools per year</c:v>
                </c:pt>
              </c:strCache>
            </c:strRef>
          </c:tx>
          <c:spPr>
            <a:solidFill>
              <a:srgbClr val="0E6E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C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E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E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90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458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458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job</c:v>
                  </c:pt>
                  <c:pt idx="1">
                    <c:v>2 jobs</c:v>
                  </c:pt>
                  <c:pt idx="2">
                    <c:v>3 jobs</c:v>
                  </c:pt>
                  <c:pt idx="3">
                    <c:v>4 jobs</c:v>
                  </c:pt>
                  <c:pt idx="4">
                    <c:v>5 jobs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</c:v>
                </c:pt>
                <c:pt idx="1">
                  <c:v>13.3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C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58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D4CF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58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deck. Opens on what was asked, pivots to what was found, closes on decisions. The margin finding is deliberately not 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oldest unanswered question in the project and the highest value one. If only one thing moves, it should be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754880" cy="4754880"/>
          </a:xfrm>
          <a:prstGeom prst="ellipse">
            <a:avLst/>
          </a:prstGeom>
          <a:solidFill>
            <a:srgbClr val="E0901B">
              <a:alpha val="12000"/>
            </a:srgbClr>
          </a:solidFill>
          <a:ln w="12700">
            <a:solidFill>
              <a:srgbClr val="E0901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 ·  LUBBOCK, TEXAS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Decisions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what we built, and what we need from you.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started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719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how commissions are calculated and paid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3408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costs and know real profit per job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9626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close rates and conversion by vertical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5844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CRM that actually holds the pipeline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across all four verticals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5029200" cy="3383280"/>
          </a:xfrm>
          <a:prstGeom prst="roundRect">
            <a:avLst>
              <a:gd name="adj" fmla="val 1622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an AI problem.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12280" y="2340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data spine problem.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12280" y="28803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on that list needs the same thing first: numbers that connect. Today the estimate, the books and the schedule share no common key — so none of those questions can be answered, no matter which software gets bought.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layered on disconnected spreadsheets only makes the mess run faster.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work started with the one document everything else depends on: the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estimate is a price list, not a takeoff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933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ESTIMATE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Rebar / Rebar Labor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2395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$4,000.00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0" y="28163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$12,000.00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364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quantity. No unit cost. Nothing to check it against.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60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anywhere on the document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36499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cost-plus contracts, and cost-plus agreements commonly carry audit rights. $4,000 for rebar with no basis behind it is a number that cannot be defended if a customer ever asks — and it is every line, on every estimate.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is not the problem. The absence of a basis for it 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quantity layer behind your estimate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310896" cy="310896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53312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 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450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24 pool with a 6 × 6 spa.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input.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38528"/>
            <a:ext cx="310896" cy="310896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38344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Quantities derived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450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sq ft wetted surface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LF perimeter · 12,881 gallons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 bank yd³ · 27.3 yd³ gunite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2,041 LF of #3 bar · 43 bags plaster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38528"/>
            <a:ext cx="310896" cy="310896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23376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dollars out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450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 excavation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 gunite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 rebar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$20,750 finishes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7091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estimate keeps its exact shape.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sections, same line names, same figures — every one now with a quantity behind it. Nobody retrains, and the customer-facing document does not change.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 ·  THE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calibration replay is internally traceable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55448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C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 Excavation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 Pool Shell Construction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 Pool Plumbing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 Pool Finishes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 Pool Deck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1300  Additional Upgrades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2F82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modelled codes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$69,653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B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E09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Whitaker Oasis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24 pool with spa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0" y="26974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Whitaker seeded the current unit rates, so this is a calibration replay — not an independent validation.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the formulas, quantities and line extensions are traceable. Predictive accuracy still requires a second completed job the model has never seen.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then priced a 15 × 30 with a spa from nothing but those two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PROVES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seeded rates pass a reasonableness check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019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$439.56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2688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yd³ of gunite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range $350–600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019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$87.21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bag of plaster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Brite territory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0144" y="1691640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9019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$13.59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02752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sq ft of decking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2752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range $12–18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documentation, not competence.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rate back-solved from the Whitaker estimate lands inside the cited published ranges. That is a useful reasonableness check, not proof of predictive accuracy. The next step is to test the frozen model against a completed job it did not calibrate.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estimate leaves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~$13,750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2688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standard scope that is nowhere on the document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719072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 — a live line showing $0.00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Geotechnical / soil report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engineering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line for the heater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protection and seasonal work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to fill, and water to cure the shell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chemicals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Gunite rebound haul-off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burden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and supervision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83880" y="169164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58200" y="233172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upgrades or extras. They are standard scope on every pool you build.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are not on the estimate, they are not reimbursed — so they come out of your profit rather than the job.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also surface mid-build as change orders, which is the conversation that costs a referral.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a Whitaker-sized job. Some items still need a real quote to firm up.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749040"/>
            <a:ext cx="3291840" cy="3291840"/>
          </a:xfrm>
          <a:prstGeom prst="ellipse">
            <a:avLst/>
          </a:prstGeom>
          <a:solidFill>
            <a:srgbClr val="E0901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UNLOCKS 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question only you can answer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your cost-plus agreement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as reimbursable cost?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that is answered, none of the $13,750 can move. Expanding what counts as reimbursable cost beyond what the contract actually allows looks like padding — and cost-plus agreements commonly carry audit rights, so guessing is the one thing we should not 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question, to one person, worth about $13,750 on every pool you sell.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crew is the ceiling, not your pipeline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45920"/>
            <a:ext cx="4069080" cy="3291840"/>
          </a:xfrm>
          <a:prstGeom prst="roundRect">
            <a:avLst>
              <a:gd name="adj" fmla="val 1667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8470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72668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crew-days per pool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26680" y="292608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takes 22 working days, but only 13.7 of them are your in-house crew. The rest is subcontractor work or waiting — and that waiting is exactly what lets one crew carry several builds at once.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also means the crew, not demand, sets how many pools you finish in a year.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 cover excavation, gunite, electrical and decking. Everything else is your crew.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COSTS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five jobs at once buys nothing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292608" cy="292608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56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jobs in flight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per job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2359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weeks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per year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8529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3346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utilisation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33467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56248" y="1874520"/>
            <a:ext cx="292608" cy="292608"/>
          </a:xfrm>
          <a:prstGeom prst="ellipse">
            <a:avLst/>
          </a:prstGeom>
          <a:solidFill>
            <a:srgbClr val="B047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8562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jobs in flight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6248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per job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89720" y="2359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 weeks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per year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89720" y="28529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3346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utilisation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89720" y="33467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4453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output. Every customer waits 5.5 weeks longer.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4846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three jobs in flight the crew is already fully loaded, so a fourth and fifth add queue rather than output — while a longer calendar spends more supervision time and stretches the window where something can go wrong on a referral.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work in progress at three costs nothing and can start this week.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 ON ONE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arrives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and attributed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0" y="2002536"/>
            <a:ext cx="164592" cy="128016"/>
          </a:xfrm>
          <a:prstGeom prst="rightArrow">
            <a:avLst/>
          </a:prstGeom>
          <a:solidFill>
            <a:srgbClr val="D4CFC5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five minutes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42232" y="2002536"/>
            <a:ext cx="164592" cy="128016"/>
          </a:xfrm>
          <a:prstGeom prst="rightArrow">
            <a:avLst/>
          </a:prstGeom>
          <a:solidFill>
            <a:srgbClr val="D4CFC5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62272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dimensions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98464" y="2002536"/>
            <a:ext cx="164592" cy="128016"/>
          </a:xfrm>
          <a:prstGeom prst="rightArrow">
            <a:avLst/>
          </a:prstGeom>
          <a:solidFill>
            <a:srgbClr val="D4CFC5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36792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number mints here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54696" y="2002536"/>
            <a:ext cx="164592" cy="128016"/>
          </a:xfrm>
          <a:prstGeom prst="rightArrow">
            <a:avLst/>
          </a:prstGeom>
          <a:solidFill>
            <a:srgbClr val="D4CFC5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4736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and gunite scheduled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10928" y="2002536"/>
            <a:ext cx="164592" cy="128016"/>
          </a:xfrm>
          <a:prstGeom prst="rightArrow">
            <a:avLst/>
          </a:prstGeom>
          <a:solidFill>
            <a:srgbClr val="D4CFC5"/>
          </a:solidFill>
          <a:ln w="12700">
            <a:solidFill>
              <a:srgbClr val="D4CF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1572768"/>
            <a:ext cx="16002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49256" y="17190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30968" y="20299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final, commission pays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2761488"/>
            <a:ext cx="7168896" cy="329184"/>
          </a:xfrm>
          <a:prstGeom prst="roundRect">
            <a:avLst>
              <a:gd name="adj" fmla="val 11111"/>
            </a:avLst>
          </a:prstGeom>
          <a:solidFill>
            <a:srgbClr val="0E6E7C"/>
          </a:solidFill>
          <a:ln w="12700">
            <a:solidFill>
              <a:srgbClr val="0E6E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761488"/>
            <a:ext cx="6876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number  ·  from the first click through to the finished job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08776" y="3200400"/>
            <a:ext cx="5312664" cy="329184"/>
          </a:xfrm>
          <a:prstGeom prst="roundRect">
            <a:avLst>
              <a:gd name="adj" fmla="val 11111"/>
            </a:avLst>
          </a:prstGeom>
          <a:solidFill>
            <a:srgbClr val="95560A"/>
          </a:solidFill>
          <a:ln w="12700">
            <a:solidFill>
              <a:srgbClr val="955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200400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number  ·  joins your job board to your books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3858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four things feed back into the business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4224528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43891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value → ad spend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4681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optimise for revenue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19856" y="4224528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02736" y="43891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costs → pricing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02736" y="4681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quote more accurate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4224528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82512" y="43891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days → capacity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82512" y="4681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you can promise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79408" y="4224528"/>
            <a:ext cx="2542032" cy="960120"/>
          </a:xfrm>
          <a:prstGeom prst="roundRect">
            <a:avLst>
              <a:gd name="adj" fmla="val 5714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62288" y="43891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→ new leads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62288" y="46817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 spend behind them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5440680"/>
            <a:ext cx="10881360" cy="274320"/>
          </a:xfrm>
          <a:prstGeom prst="leftArrow">
            <a:avLst/>
          </a:prstGeom>
          <a:solidFill>
            <a:srgbClr val="1B1C1E"/>
          </a:solidFill>
          <a:ln w="12700">
            <a:solidFill>
              <a:srgbClr val="1B1C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54406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makes the next job better than the last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make all of it possible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20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lead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second someone fills in a form, and carried all the way through to the finished job.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connects a Facebook ad to money in the bank.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4290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20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job number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34086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moment a proposal is accepted, and never changed after that.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your job board and your books talk about the same job.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0144" y="1691640"/>
            <a:ext cx="34290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920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list of cost codes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340864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categories, with the same numbers, in your estimate, your books and your schedule.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02752" y="35204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you compare what you budgeted with what you spent.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9E5D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029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exotic. It is two numbers and one shared list — and it is exactly what is missing today.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START TO FINISH  ·  PART ONE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first click to a signature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clicks an ad and lands on your site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88720" y="1883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vertical they came for, which ad, which campaign — all recorded before they type a word.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414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fill in the form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88720" y="27523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number is created. It stays attached to them for the life of the job.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3101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hear back in under five minutes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36210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text, an email, and an alert to the right inbox. Automatically, day or night, without anyone watching.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7880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price it by typing two numbers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88720" y="44897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width. The estimate that comes out looks exactly like the one you send today.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50474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sign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88720" y="53583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number is created. The budget and the build schedule generate themselves — nothing is retyped.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changes how they work. The customer sees the same document they always saw.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START TO FINISH  ·  PART TWO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signature to everybody paid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runs off one screen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88720" y="1883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crew is today, what is sitting on a permit or a cure, which gunite dates are booked, and what needs you.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414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 get a text, not a login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88720" y="27523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to learn new software to be scheduled. Assigning the work sends the message.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3101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land as they happen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36210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invoices and receipts attach to the job in the same categories as the estimate, so budget and actual sit side by side.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7880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 finishes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88720" y="44897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asked for a review, pointed at the right listing. The pool becomes a service account and a future remodel lead.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504748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releases the money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88720" y="53583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in, allowances trued up, real profit final — and second-stage commission pays against a number both sides can see.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is paid on the profit quoted at sale. Reconciliation releases it — it does not re-cut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GETS BETTER ON ITS OWN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that feed 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47672"/>
            <a:ext cx="274320" cy="27432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911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learn what actually makes money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4048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job values go back to Facebook, so spend moves toward the work that pays rather than the work that produces the most form fills.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1947672"/>
            <a:ext cx="274320" cy="27432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0" name="Text 8"/>
          <p:cNvSpPr/>
          <p:nvPr/>
        </p:nvSpPr>
        <p:spPr>
          <a:xfrm>
            <a:off x="6940296" y="1911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quote gets more accurate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6248" y="24048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job really cost updates the pricing library, so the next proposal is built on better numbers than the last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3959352"/>
            <a:ext cx="274320" cy="27432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4" name="Text 12"/>
          <p:cNvSpPr/>
          <p:nvPr/>
        </p:nvSpPr>
        <p:spPr>
          <a:xfrm>
            <a:off x="1316736" y="3922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know what you can promise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44165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days logged on real builds turn a guess about capacity into a date you can stand behind.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6248" y="3959352"/>
            <a:ext cx="274320" cy="274320"/>
          </a:xfrm>
          <a:prstGeom prst="ellipse">
            <a:avLst/>
          </a:prstGeom>
          <a:solidFill>
            <a:srgbClr val="0E6E7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0296" y="39227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bring leads you did not pay for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6248" y="44165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finished job asks for a review, which builds the map listing, which produces enquiries with no ad spend behind them.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 anyone to remember to do them. They are consequences of the system running.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ALL OF 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will be able to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19656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vertical actually converts, and at what rate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386584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04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won job costs you to win, by vertical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712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service account is worth over its life, not just its first visit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3520440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381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really made on a job, line by 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087368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050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salesperson is owed, with the numbers behind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654296"/>
            <a:ext cx="201168" cy="201168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can afford to take the next job 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09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those was on your original list. Not one of them can be answered today.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built, and what it is waiting 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&amp; lead capture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32688" y="2194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Rebuilt. Every enquiry tagged by vertical with full attribution, so close rate by vertical finally becomes computable.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32688" y="3035808"/>
            <a:ext cx="182880" cy="18288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971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account transfer from the current agency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6248" y="1847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response engine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56248" y="2194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reply to every new enquiry, routed to the right vertical. Duplicate-proof.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56248" y="3035808"/>
            <a:ext cx="182880" cy="18288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2971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text-message provider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Takeoff &amp; proposal engine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32688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your estimate exactly, and prices a new pool from two dimensions.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" y="5093208"/>
            <a:ext cx="182880" cy="18288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18" name="Text 16"/>
          <p:cNvSpPr/>
          <p:nvPr/>
        </p:nvSpPr>
        <p:spPr>
          <a:xfrm>
            <a:off x="1207008" y="5029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today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6248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status signal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56248" y="42519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 finished job to review requests and ad reporting automatically.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6248" y="5093208"/>
            <a:ext cx="182880" cy="182880"/>
          </a:xfrm>
          <a:prstGeom prst="ellipse">
            <a:avLst/>
          </a:prstGeom>
          <a:solidFill>
            <a:srgbClr val="2F8250"/>
          </a:solidFill>
          <a:ln/>
        </p:spPr>
      </p:sp>
      <p:sp>
        <p:nvSpPr>
          <p:cNvPr id="23" name="Text 21"/>
          <p:cNvSpPr/>
          <p:nvPr/>
        </p:nvSpPr>
        <p:spPr>
          <a:xfrm>
            <a:off x="6830568" y="5029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is ahead of the decisions — most of what is finished cannot switch on yet.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the contract reviewed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cost-plus agreement define as reimbursable cost?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66760" y="15727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~$13,750 per pool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32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QuickBooks questions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340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Projects turned on? Are Classes in use? One company file across the businesses, or three?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66760" y="24323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cost tracking and commissions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291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the allowance rule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5935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turf comes in at $6,200 against a $5,000 budget, does the fee recalculate on the real number?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3291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reconciled profit means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151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work in progress at three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4531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and it can start this week.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1513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 faster per customer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5010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crew-days on the next two pools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53126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phase. A note on a phone is enough.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50109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5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capacity model into fact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are decisions. The last two are habits, and both are free.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ASK, IN FULL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need from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33832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77824" y="2286000"/>
            <a:ext cx="212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cost-plus agreement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finished pool estimates, with their dimensions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gunite crew’s booking terms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Facebook ad spend and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542032" cy="33832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9312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39312" y="2286000"/>
            <a:ext cx="212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at 30%, or move the fee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fee recalculate on allowances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commission structure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builds at three at once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builds estimates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542032" cy="33832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to start logging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12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days on the next two pools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per year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jobs per month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and mix today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 the phone today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24544" y="1691640"/>
            <a:ext cx="2542032" cy="33832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62288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62288" y="2286000"/>
            <a:ext cx="212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setup, or read access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job-board account on an Apex email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four inboxes exist</a:t>
            </a:r>
            <a:endParaRPr lang="en-US" sz="110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crew lead get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1C1E"/>
          </a:solidFill>
          <a:ln w="9525">
            <a:solidFill>
              <a:srgbClr val="D4CFC5"/>
            </a:solidFill>
            <a:prstDash val="solid"/>
          </a:ln>
          <a:effectLst>
            <a:outerShdw sx="100000" sy="100000" kx="0" ky="0" algn="bl" rotWithShape="0" blurRad="76200" dist="12700" dir="5400000">
              <a:srgbClr val="9C9C9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contract. </a:t>
            </a:r>
            <a:pPr indent="0" marL="0">
              <a:buNone/>
            </a:pPr>
            <a:r>
              <a:rPr lang="en-US" sz="14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document, to one person, and nothing else on this page is worth as much.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E09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4389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in dependency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25272A"/>
          </a:solidFill>
          <a:ln w="19050">
            <a:solidFill>
              <a:srgbClr val="E090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0240"/>
            <a:ext cx="365760" cy="36576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Convert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364992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enquiry tagged, answered in minutes, and attributable to the vertical that produced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9164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25272A"/>
          </a:solidFill>
          <a:ln w="9525">
            <a:solidFill>
              <a:srgbClr val="5458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20240"/>
            <a:ext cx="365760" cy="36576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3364992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takeoff engine live on real proposals, so every figure you bill can be substantiated.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25272A"/>
          </a:solidFill>
          <a:ln w="9525">
            <a:solidFill>
              <a:srgbClr val="5458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920240"/>
            <a:ext cx="365760" cy="36576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Manage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3364992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costing, commissions on reconciled profit, and one crew scheduled against real capacity.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9164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25272A"/>
          </a:solidFill>
          <a:ln w="9525">
            <a:solidFill>
              <a:srgbClr val="5458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1920240"/>
            <a:ext cx="365760" cy="365760"/>
          </a:xfrm>
          <a:prstGeom prst="ellipse">
            <a:avLst/>
          </a:prstGeom>
          <a:solidFill>
            <a:srgbClr val="E0901B"/>
          </a:solidFill>
          <a:ln/>
        </p:spPr>
      </p:sp>
      <p:sp>
        <p:nvSpPr>
          <p:cNvPr id="21" name="Text 19"/>
          <p:cNvSpPr/>
          <p:nvPr/>
        </p:nvSpPr>
        <p:spPr>
          <a:xfrm>
            <a:off x="918057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0576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80576" y="3364992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that build the map listing, and ad spend that optimises toward revenue instead of form fills.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sequenced by preference. Each phase produces the data the next one needs.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545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 · 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Findings &amp; Decisions</dc:title>
  <dc:subject>PptxGenJS Presentation</dc:subject>
  <dc:creator>Apex</dc:creator>
  <cp:lastModifiedBy>Apex</cp:lastModifiedBy>
  <cp:revision>1</cp:revision>
  <dcterms:created xsi:type="dcterms:W3CDTF">2026-07-28T21:31:18Z</dcterms:created>
  <dcterms:modified xsi:type="dcterms:W3CDTF">2026-07-28T21:31:18Z</dcterms:modified>
</cp:coreProperties>
</file>