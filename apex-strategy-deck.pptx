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4585E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4585E"/>
                </a:solidFill>
                <a:latin typeface="Calibri"/>
              </a:rPr>
              <a:t>Pools completed per year, by jobs in flight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Pools per year</c:v>
                </c:pt>
              </c:strCache>
            </c:strRef>
          </c:tx>
          <c:spPr>
            <a:solidFill>
              <a:srgbClr val="0E6E7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C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6E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E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90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4585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4585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 job</c:v>
                  </c:pt>
                  <c:pt idx="1">
                    <c:v>2 jobs</c:v>
                  </c:pt>
                  <c:pt idx="2">
                    <c:v>3 jobs</c:v>
                  </c:pt>
                  <c:pt idx="3">
                    <c:v>4 jobs</c:v>
                  </c:pt>
                  <c:pt idx="4">
                    <c:v>5 jobs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6.7</c:v>
                </c:pt>
                <c:pt idx="1">
                  <c:v>13.3</c:v>
                </c:pt>
                <c:pt idx="2">
                  <c:v>19</c:v>
                </c:pt>
                <c:pt idx="3">
                  <c:v>19</c:v>
                </c:pt>
                <c:pt idx="4">
                  <c:v>19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C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58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D4CF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58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deck. Opens on what was asked, pivots to what was found, closes on decisions. The margin finding is deliberately not in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oldest unanswered question in the project and the highest value one. If only one thing moves, it should be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914400"/>
            <a:ext cx="4754880" cy="4754880"/>
          </a:xfrm>
          <a:prstGeom prst="ellipse">
            <a:avLst/>
          </a:prstGeom>
          <a:solidFill>
            <a:srgbClr val="E0901B">
              <a:alpha val="12000"/>
            </a:srgbClr>
          </a:solidFill>
          <a:ln w="12700">
            <a:solidFill>
              <a:srgbClr val="E0901B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 ·  LUBBOCK, TEXAS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Modernization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&amp; Decisions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found, what we built, and what we need from you.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started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17190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how commissions are calculated and paid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359152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234086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costs and know real profit per job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980944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980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70432" y="296265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close rates and conversion by vertical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60273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70432" y="35844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CRM that actually holds the pipeline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24528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70432" y="4206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across all four verticals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92240" y="1645920"/>
            <a:ext cx="5029200" cy="3383280"/>
          </a:xfrm>
          <a:prstGeom prst="roundRect">
            <a:avLst>
              <a:gd name="adj" fmla="val 1622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19385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an AI problem.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812280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a data spine problem.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812280" y="288036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on that list needs the same thing first: numbers that connect. Today the estimate, the books and the schedule share no common key — so none of those questions can be answered, no matter which software gets bought.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layered on disconnected spreadsheets only makes the mess run faster.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work started with the one document everything else depends on: the estimate.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estimate is a price list, not a takeoff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48640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9339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ESTIMATE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395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Rebar / Rebar Labor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49040" y="23957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$4,000.00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28163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$12,000.00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04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quantity. No unit cost. Nothing to check it against.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75120" y="160020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7600" dirty="0"/>
          </a:p>
        </p:txBody>
      </p:sp>
      <p:sp>
        <p:nvSpPr>
          <p:cNvPr id="12" name="Text 10"/>
          <p:cNvSpPr/>
          <p:nvPr/>
        </p:nvSpPr>
        <p:spPr>
          <a:xfrm>
            <a:off x="6675120" y="2926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anywhere on the document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336499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cost-plus contracts, and cost-plus agreements commonly carry audit rights. $4,000 for rebar with no basis behind it is a number that cannot be defended if a customer ever asks — and it is every line, on every estimate.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pricing is not the problem. The absence of a basis for it is.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quantity layer behind your estimate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38528"/>
            <a:ext cx="310896" cy="310896"/>
          </a:xfrm>
          <a:prstGeom prst="ellipse">
            <a:avLst/>
          </a:prstGeom>
          <a:solidFill>
            <a:srgbClr val="0E6E7C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353312" y="19385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Dimensions 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450592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24 pool with a 6 × 6 spa.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input.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42900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938528"/>
            <a:ext cx="310896" cy="310896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38344" y="19385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Quantities derived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2450592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887 sq ft wetted surface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LF perimeter · 12,881 gallons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92.3 bank yd³ · 27.3 yd³ gunite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2,041 LF of #3 bar · 43 bags plaster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2900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1938528"/>
            <a:ext cx="310896" cy="310896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723376" y="19385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dollars out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02752" y="2450592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$5,500 excavation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 gunite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$4,000 rebar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$20,750 finishes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47091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estimate keeps its exact shape.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sections, same line names, same figures — every one now with a quantity behind it. Nobody retrains, and the customer-facing document does not change.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02  ·  THE PROOF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reproduces your estimate exactly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7223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1554480"/>
                <a:gridCol w="1188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 Excavation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 Pool Shell Construction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$16,801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 Pool Finishes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 Pool Deck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1300  Additional Upgrades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modelled codes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$61,552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$61,550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91640"/>
            <a:ext cx="3383280" cy="3246120"/>
          </a:xfrm>
          <a:prstGeom prst="roundRect">
            <a:avLst>
              <a:gd name="adj" fmla="val 1690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0" y="1938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Whitaker Oasis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412480" y="2258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24 pool with spa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412480" y="26974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dimensions alone, then checked against the real estimate line by line.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fitted to the answer — derived, then compared. Six of your finishes lines, the excavation, the shell and the deck all land on the dollar.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model then priced a 15 × 30 with a spa from nothing but those two dimensions.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PROVES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pricing instincts are already right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90195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$439.56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32688" y="26609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yd³ of gunite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32688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range $350–600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6916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90195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$87.21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17720" y="26609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bag of plaster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1772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 Brite territory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10144" y="16916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02752" y="190195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$13.59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02752" y="26609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sq ft of decking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02752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range $12–18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documentation, not competence.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466344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rate we back-solved from your estimate lands inside published industry ranges. The numbers in your head are well calibrated — they simply cannot transfer to anyone else, scale past what you personally price, or be shown to a customer who asks.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estimate leaves 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0" cy="2468880"/>
          </a:xfrm>
          <a:prstGeom prst="roundRect">
            <a:avLst>
              <a:gd name="adj" fmla="val 2222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965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~$13,750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32688" y="27614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108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standard scope that is nowhere on the document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17720" y="1719072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— a live line showing $0.00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Geotechnical / soil report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engineering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line for the heater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protection and seasonal work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to fill, and water to cure the shell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chemicals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Gunite rebound haul-off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burden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and supervision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83880" y="1691640"/>
            <a:ext cx="3337560" cy="3291840"/>
          </a:xfrm>
          <a:prstGeom prst="roundRect">
            <a:avLst>
              <a:gd name="adj" fmla="val 1667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58200" y="19385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58200" y="2331720"/>
            <a:ext cx="28346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upgrades or extras. They are standard scope on every pool you build.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they are not on the estimate, they are not reimbursed — so they come out of your profit rather than the job.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also surface mid-build as change orders, which is the conversation that costs a referral.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on a Whitaker-sized job. Some items still need a real quote to firm up.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3749040"/>
            <a:ext cx="3291840" cy="3291840"/>
          </a:xfrm>
          <a:prstGeom prst="ellipse">
            <a:avLst/>
          </a:prstGeom>
          <a:solidFill>
            <a:srgbClr val="E0901B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THAT UNLOCKS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question only you can answer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your cost-plus agreement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as reimbursable cost?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that is answered, none of the $13,750 can move. Expanding what counts as reimbursable cost beyond what the contract actually allows looks like padding — and cost-plus agreements commonly carry audit rights, so guessing is the one thing we should not do.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349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question, to one person, worth about $13,750 on every pool you sell.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crew is the ceiling, not your pipeline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4592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26680" y="18470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13.7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726680" y="25237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crew-days per pool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26680" y="292608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pool takes 22 working days, but only 13.7 of them are your in-house crew. The rest is subcontractor work or waiting — and that waiting is exactly what lets one crew carry several builds at once.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also means the crew, not demand, sets how many pools you finish in a year.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 cover excavation, gunite, electrical and decking. Everything else is your crew.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COSTS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five jobs at once buys nothing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120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74520"/>
            <a:ext cx="292608" cy="292608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8562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jobs in flight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32688" y="23591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per job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2359152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weeks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per year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66160" y="28529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pools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334670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utilisation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6160" y="334670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2120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56248" y="1874520"/>
            <a:ext cx="292608" cy="292608"/>
          </a:xfrm>
          <a:prstGeom prst="ellipse">
            <a:avLst/>
          </a:prstGeom>
          <a:solidFill>
            <a:srgbClr val="B047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8562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jobs in flight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56248" y="23591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per job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89720" y="2359152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 weeks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56248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per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89720" y="28529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pools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34670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utilisation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89720" y="334670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4251960"/>
            <a:ext cx="10881360" cy="1325880"/>
          </a:xfrm>
          <a:prstGeom prst="roundRect">
            <a:avLst>
              <a:gd name="adj" fmla="val 4138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4453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output. Every customer waits 5.5 weeks longer.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60120" y="4846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three jobs in flight the crew is already fully loaded, so a fourth and fifth add queue rather than output — while a longer calendar spends more supervision time and stretches the window where something can go wrong on a referral.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Capping work in progress at three costs nothing and can start this week.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THING ON ONE PAGE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fits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6002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7190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arrives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2029968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and attributed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0" y="2002536"/>
            <a:ext cx="164592" cy="128016"/>
          </a:xfrm>
          <a:prstGeom prst="rightArrow">
            <a:avLst/>
          </a:prstGeom>
          <a:solidFill>
            <a:srgbClr val="D4CFC5"/>
          </a:solidFill>
          <a:ln w="12700">
            <a:solidFill>
              <a:srgbClr val="D4CF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96312" y="1572768"/>
            <a:ext cx="16002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17190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06040" y="2029968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five minutes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42232" y="2002536"/>
            <a:ext cx="164592" cy="128016"/>
          </a:xfrm>
          <a:prstGeom prst="rightArrow">
            <a:avLst/>
          </a:prstGeom>
          <a:solidFill>
            <a:srgbClr val="D4CFC5"/>
          </a:solidFill>
          <a:ln w="12700">
            <a:solidFill>
              <a:srgbClr val="D4CF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572768"/>
            <a:ext cx="16002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80560" y="17190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62272" y="2029968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two dimensions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98464" y="2002536"/>
            <a:ext cx="164592" cy="128016"/>
          </a:xfrm>
          <a:prstGeom prst="rightArrow">
            <a:avLst/>
          </a:prstGeom>
          <a:solidFill>
            <a:srgbClr val="D4CFC5"/>
          </a:solidFill>
          <a:ln w="12700">
            <a:solidFill>
              <a:srgbClr val="D4CF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08776" y="1572768"/>
            <a:ext cx="1600200" cy="987552"/>
          </a:xfrm>
          <a:prstGeom prst="roundRect">
            <a:avLst>
              <a:gd name="adj" fmla="val 5556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36792" y="17190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18504" y="2029968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number mints here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54696" y="2002536"/>
            <a:ext cx="164592" cy="128016"/>
          </a:xfrm>
          <a:prstGeom prst="rightArrow">
            <a:avLst/>
          </a:prstGeom>
          <a:solidFill>
            <a:srgbClr val="D4CFC5"/>
          </a:solidFill>
          <a:ln w="12700">
            <a:solidFill>
              <a:srgbClr val="D4CF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65008" y="1572768"/>
            <a:ext cx="16002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93024" y="17190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74736" y="2029968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and gunite scheduled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10928" y="2002536"/>
            <a:ext cx="164592" cy="128016"/>
          </a:xfrm>
          <a:prstGeom prst="rightArrow">
            <a:avLst/>
          </a:prstGeom>
          <a:solidFill>
            <a:srgbClr val="D4CFC5"/>
          </a:solidFill>
          <a:ln w="12700">
            <a:solidFill>
              <a:srgbClr val="D4CFC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21240" y="1572768"/>
            <a:ext cx="16002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49256" y="17190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30968" y="2029968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final, commission pays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" y="2761488"/>
            <a:ext cx="7168896" cy="329184"/>
          </a:xfrm>
          <a:prstGeom prst="roundRect">
            <a:avLst>
              <a:gd name="adj" fmla="val 11111"/>
            </a:avLst>
          </a:prstGeom>
          <a:solidFill>
            <a:srgbClr val="0E6E7C"/>
          </a:solidFill>
          <a:ln w="12700">
            <a:solidFill>
              <a:srgbClr val="0E6E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2761488"/>
            <a:ext cx="6876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number  ·  from the first click through to the finished job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08776" y="3200400"/>
            <a:ext cx="5312664" cy="329184"/>
          </a:xfrm>
          <a:prstGeom prst="roundRect">
            <a:avLst>
              <a:gd name="adj" fmla="val 11111"/>
            </a:avLst>
          </a:prstGeom>
          <a:solidFill>
            <a:srgbClr val="95560A"/>
          </a:solidFill>
          <a:ln w="12700">
            <a:solidFill>
              <a:srgbClr val="9556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55080" y="3200400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number  ·  joins your job board to your books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3858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four things feed back into the business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40080" y="4224528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22960" y="438912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value → ad spend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" y="4681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optimise for revenue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19856" y="4224528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02736" y="438912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costs → pricing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02736" y="4681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quote more accurate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99632" y="4224528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382512" y="438912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days → capacity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382512" y="4681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you can promise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79408" y="4224528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162288" y="438912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→ new leads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62288" y="4681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 spend behind them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5440680"/>
            <a:ext cx="10881360" cy="274320"/>
          </a:xfrm>
          <a:prstGeom prst="leftArrow">
            <a:avLst/>
          </a:prstGeom>
          <a:solidFill>
            <a:srgbClr val="1B1C1E"/>
          </a:solidFill>
          <a:ln w="12700">
            <a:solidFill>
              <a:srgbClr val="1B1C1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97280" y="54406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makes the next job better than the last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make all of it possible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9202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lead number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340864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the second someone fills in a form, and carried all the way through to the finished job.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52044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connects a Facebook ad to money in the bank.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112" y="1691640"/>
            <a:ext cx="342900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9202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job number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17720" y="2340864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the moment a proposal is accepted, and never changed after that.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352044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lets your job board and your books talk about the same job.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10144" y="1691640"/>
            <a:ext cx="342900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02752" y="19202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list of cost codes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02752" y="2340864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categories, with the same numbers, in your estimate, your books and your schedule.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02752" y="352044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lets you compare what you budgeted with what you spent.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0292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exotic. It is two numbers and one shared list — and it is exactly what is missing today.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JOB, START TO FINISH  ·  PART ONE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click to a signature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91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57276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Someone clicks an ad and lands on your site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88720" y="18836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vertical they came for, which ad, which campaign — all recorded before they type a word.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45973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441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fill in the form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88720" y="275234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number is created. It stays attached to them for the life of the job.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hear back in under five minutes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88720" y="36210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text, an email, and an alert to the right inbox. Automatically, day or night, without anyone watching.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417880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price it by typing two numbers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88720" y="44897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and width. The estimate that comes out looks exactly like the one you send today.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6577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65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504748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sign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188720" y="53583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 number is created. The budget and the build schedule generate themselves — nothing is retyped.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changes how they work. The customer sees the same document they always saw.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JOB, START TO FINISH  ·  PART TWO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signature to everybody 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91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57276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runs off one screen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88720" y="18836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crew is today, what is sitting on a permit or a cure, which gunite dates are booked, and what needs you.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45973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441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 get a text, not a login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88720" y="275234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to learn new software to be scheduled. Assigning the work sends the message.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land as they happen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88720" y="36210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invoices and receipts attach to the job in the same categories as the estimate, so budget and actual sit side by side.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417880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job finishes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88720" y="44897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asked for a review, pointed at the right listing. The pool becomes a service account and a future remodel lead.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6577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65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504748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Reconciliation releases the money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188720" y="53583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costs in, allowances trued up, real profit final — and second-stage commission pays against a number both sides can see.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is paid on the profit quoted at sale. Reconciliation releases it — it does not re-cut it.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GETS BETTER ON ITS OWN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feed back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47672"/>
            <a:ext cx="274320" cy="274320"/>
          </a:xfrm>
          <a:prstGeom prst="ellipse">
            <a:avLst/>
          </a:prstGeom>
          <a:solidFill>
            <a:srgbClr val="0E6E7C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9110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 learn what actually makes money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4048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job values go back to Facebook, so spend moves toward the work that pays rather than the work that produces the most form fills.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6248" y="1947672"/>
            <a:ext cx="274320" cy="274320"/>
          </a:xfrm>
          <a:prstGeom prst="ellipse">
            <a:avLst/>
          </a:prstGeom>
          <a:solidFill>
            <a:srgbClr val="0E6E7C"/>
          </a:solidFill>
          <a:ln/>
        </p:spPr>
      </p:sp>
      <p:sp>
        <p:nvSpPr>
          <p:cNvPr id="10" name="Text 8"/>
          <p:cNvSpPr/>
          <p:nvPr/>
        </p:nvSpPr>
        <p:spPr>
          <a:xfrm>
            <a:off x="6940296" y="19110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quote gets more accurate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56248" y="24048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job really cost updates the pricing library, so the next proposal is built on better numbers than the last one.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3959352"/>
            <a:ext cx="274320" cy="274320"/>
          </a:xfrm>
          <a:prstGeom prst="ellipse">
            <a:avLst/>
          </a:prstGeom>
          <a:solidFill>
            <a:srgbClr val="0E6E7C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3922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know what you can promise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32688" y="441655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days logged on real builds turn a guess about capacity into a date you can stand behind.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70332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56248" y="3959352"/>
            <a:ext cx="274320" cy="274320"/>
          </a:xfrm>
          <a:prstGeom prst="ellipse">
            <a:avLst/>
          </a:prstGeom>
          <a:solidFill>
            <a:srgbClr val="0E6E7C"/>
          </a:solidFill>
          <a:ln/>
        </p:spPr>
      </p:sp>
      <p:sp>
        <p:nvSpPr>
          <p:cNvPr id="18" name="Text 16"/>
          <p:cNvSpPr/>
          <p:nvPr/>
        </p:nvSpPr>
        <p:spPr>
          <a:xfrm>
            <a:off x="6940296" y="3922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 bring leads you did not pay for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56248" y="441655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finished job asks for a review, which builds the map listing, which produces enquiries with no ad spend behind them.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need anyone to remember to do them. They are consequences of the system running.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OF ALL OF 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you will be able to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819656"/>
            <a:ext cx="201168" cy="201168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vertical actually converts, and at what rate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386584"/>
            <a:ext cx="201168" cy="201168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3042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won job costs you to win, by vertical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2953512"/>
            <a:ext cx="201168" cy="201168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8712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service account is worth over its life, not just its first visit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520440"/>
            <a:ext cx="201168" cy="201168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43814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really made on a job, line by line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8368" y="4087368"/>
            <a:ext cx="201168" cy="201168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0050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salesperson is owed, with the numbers behind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4654296"/>
            <a:ext cx="201168" cy="201168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 can afford to take the next job 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one of those was on your original list. Not one of them can be answered today.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built, and what it is waiting 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&amp; lead capture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32688" y="21945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Rebuilt. Every enquiry tagged by vertical with full attribution, so close rate by vertical finally becomes computable.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32688" y="3035808"/>
            <a:ext cx="182880" cy="18288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8" name="Text 6"/>
          <p:cNvSpPr/>
          <p:nvPr/>
        </p:nvSpPr>
        <p:spPr>
          <a:xfrm>
            <a:off x="1207008" y="29718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account transfer from the current agency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6248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response engine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556248" y="21945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reply to every new enquiry, routed to the right vertical. Duplicate-proof.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56248" y="3035808"/>
            <a:ext cx="182880" cy="18288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29718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text-message provider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32688" y="39044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Takeoff &amp; proposal engine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32688" y="42519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Reproduces your estimate exactly, and prices a new pool from two dimensions.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2688" y="5093208"/>
            <a:ext cx="182880" cy="182880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18" name="Text 16"/>
          <p:cNvSpPr/>
          <p:nvPr/>
        </p:nvSpPr>
        <p:spPr>
          <a:xfrm>
            <a:off x="1207008" y="50292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today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70332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56248" y="39044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status signal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56248" y="42519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a finished job to review requests and ad reporting automatically.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5093208"/>
            <a:ext cx="182880" cy="182880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23" name="Text 21"/>
          <p:cNvSpPr/>
          <p:nvPr/>
        </p:nvSpPr>
        <p:spPr>
          <a:xfrm>
            <a:off x="6830568" y="50292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is ahead of the decisions — most of what is finished cannot switch on yet.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91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57276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Have the contract reviewed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8745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 cost-plus agreement define as reimbursable cost?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366760" y="157276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~$13,750 per pool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QuickBooks questions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7340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Projects turned on? Are Classes in use? One company file across the businesses, or three?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366760" y="243230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cost tracking and commissions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3291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allowance rule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59359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turf comes in at $6,200 against a $5,000 budget, does the fee recalculate on the real number?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66760" y="32918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what reconciled profit means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169664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69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88720" y="41513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 work in progress at three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4531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and it can start this week.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66760" y="415137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weeks faster per customer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365760" cy="365760"/>
          </a:xfrm>
          <a:prstGeom prst="ellipse">
            <a:avLst/>
          </a:prstGeom>
          <a:solidFill>
            <a:srgbClr val="1B1C1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0109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crew-days on the next two pools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88720" y="53126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phase. A note on a phone is enough.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66760" y="50109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55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capacity model into fact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three are decisions. The last two are habits, and both are free.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ASK, IN FULL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we need from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42032" cy="3383280"/>
          </a:xfrm>
          <a:prstGeom prst="roundRect">
            <a:avLst>
              <a:gd name="adj" fmla="val 2158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77824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77824" y="2286000"/>
            <a:ext cx="212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cost-plus agreement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finished pool estimates, with their dimensions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gunite crew’s booking terms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Facebook ad spend and structure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01568" y="1691640"/>
            <a:ext cx="2542032" cy="3383280"/>
          </a:xfrm>
          <a:prstGeom prst="roundRect">
            <a:avLst>
              <a:gd name="adj" fmla="val 2158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39312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639312" y="2286000"/>
            <a:ext cx="212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at 30%, or move the fee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fee recalculate on allowances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commission structure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builds at three at once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builds estimates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63056" y="1691640"/>
            <a:ext cx="2542032" cy="3383280"/>
          </a:xfrm>
          <a:prstGeom prst="roundRect">
            <a:avLst>
              <a:gd name="adj" fmla="val 2158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Numbers to start logging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0" y="2286000"/>
            <a:ext cx="212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days on the next two pools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per year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 jobs per month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volume and mix today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answers the phone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24544" y="1691640"/>
            <a:ext cx="2542032" cy="3383280"/>
          </a:xfrm>
          <a:prstGeom prst="roundRect">
            <a:avLst>
              <a:gd name="adj" fmla="val 2158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62288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162288" y="2286000"/>
            <a:ext cx="212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QuickBooks setup, or read access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job-board account on an Apex email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four inboxes exist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crew lead get access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contract. </a:t>
            </a:r>
            <a:pPr indent="0" marL="0">
              <a:buNone/>
            </a:pPr>
            <a:r>
              <a:rPr lang="en-US" sz="14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document, to one person, and nothing else on this page is worth as much.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SEQUENCE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438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phases, in dependency order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3200400"/>
          </a:xfrm>
          <a:prstGeom prst="roundRect">
            <a:avLst>
              <a:gd name="adj" fmla="val 2182"/>
            </a:avLst>
          </a:prstGeom>
          <a:solidFill>
            <a:srgbClr val="25272A"/>
          </a:solidFill>
          <a:ln w="19050">
            <a:solidFill>
              <a:srgbClr val="E090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20240"/>
            <a:ext cx="365760" cy="36576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Convert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364992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enquiry tagged, answered in minutes, and attributable to the vertical that produced it.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691640"/>
            <a:ext cx="2514600" cy="3200400"/>
          </a:xfrm>
          <a:prstGeom prst="roundRect">
            <a:avLst>
              <a:gd name="adj" fmla="val 2182"/>
            </a:avLst>
          </a:prstGeom>
          <a:solidFill>
            <a:srgbClr val="25272A"/>
          </a:solidFill>
          <a:ln w="9525">
            <a:solidFill>
              <a:srgbClr val="5458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920240"/>
            <a:ext cx="365760" cy="36576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Prove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57600" y="3364992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takeoff engine live on real proposals, so every figure you bill can be substantiated.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3056" y="1691640"/>
            <a:ext cx="2514600" cy="3200400"/>
          </a:xfrm>
          <a:prstGeom prst="roundRect">
            <a:avLst>
              <a:gd name="adj" fmla="val 2182"/>
            </a:avLst>
          </a:prstGeom>
          <a:solidFill>
            <a:srgbClr val="25272A"/>
          </a:solidFill>
          <a:ln w="9525">
            <a:solidFill>
              <a:srgbClr val="5458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1920240"/>
            <a:ext cx="365760" cy="36576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19088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Manage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19088" y="3364992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costing, commissions on reconciled profit, and one crew scheduled against real capacity.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24544" y="1691640"/>
            <a:ext cx="2514600" cy="3200400"/>
          </a:xfrm>
          <a:prstGeom prst="roundRect">
            <a:avLst>
              <a:gd name="adj" fmla="val 2182"/>
            </a:avLst>
          </a:prstGeom>
          <a:solidFill>
            <a:srgbClr val="25272A"/>
          </a:solidFill>
          <a:ln w="9525">
            <a:solidFill>
              <a:srgbClr val="5458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0576" y="1920240"/>
            <a:ext cx="365760" cy="36576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21" name="Text 19"/>
          <p:cNvSpPr/>
          <p:nvPr/>
        </p:nvSpPr>
        <p:spPr>
          <a:xfrm>
            <a:off x="9180576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80576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80576" y="3364992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that build the map listing, and ad spend that optimises toward revenue instead of form fills.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sequenced by preference. Each phase produces the data the next one needs.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6126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 ·  July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Apex — Findings &amp; Decisions</dc:title>
  <dc:subject>PptxGenJS Presentation</dc:subject>
  <dc:creator>Apex</dc:creator>
  <cp:lastModifiedBy>Apex</cp:lastModifiedBy>
  <cp:revision>1</cp:revision>
  <dcterms:created xsi:type="dcterms:W3CDTF">2026-07-27T01:20:26Z</dcterms:created>
  <dcterms:modified xsi:type="dcterms:W3CDTF">2026-07-27T01:20:26Z</dcterms:modified>
</cp:coreProperties>
</file>