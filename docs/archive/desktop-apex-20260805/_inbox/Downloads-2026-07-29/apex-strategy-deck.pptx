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strategy + roadmap summary of the whole modernization engagement. Exec-level. Works for Travis or internal.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pex-Site-Logo-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383133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17007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IT DONE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66928" y="269748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brand. Four crews.</a:t>
            </a:r>
            <a:endParaRPr lang="en-US" sz="4600" dirty="0"/>
          </a:p>
          <a:p>
            <a:pPr algn="l" indent="0" marL="0">
              <a:lnSpc>
                <a:spcPts val="4700"/>
              </a:lnSpc>
              <a:buNone/>
            </a:pPr>
            <a:r>
              <a:rPr lang="en-US" sz="4600" b="1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 to run them.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9436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B9B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MODERNIZATION  —  STRATEGY &amp; ROADMAP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Apex  ·  Lubbock, TX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76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business,</a:t>
            </a:r>
            <a:endParaRPr lang="en-US" sz="3400" dirty="0"/>
          </a:p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on spreadsheets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743200"/>
            <a:ext cx="5669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has what most contractors want: reputation, real warranties, and steady demand across four lines of work.</a:t>
            </a:r>
            <a:endParaRPr lang="en-US" sz="1550" dirty="0"/>
          </a:p>
          <a:p>
            <a:pPr algn="l"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caps growth isn’t leads — it’s operations. Four businesses run through disconnected tools and manual tracking, so almost nothing can be measured, compared, or scaled.</a:t>
            </a:r>
            <a:endParaRPr lang="en-US" sz="155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plumbing, and the same team can do more, price better, and see where the money actually comes from.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0" y="960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 IS REAL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30-YR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41248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Coating warranty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20299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7-YR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412480" y="2139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warranty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6883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48-HR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412480" y="27980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response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3611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...BUT IT ALL RUNS MANUALLY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4023360"/>
            <a:ext cx="22860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59168" y="4306824"/>
            <a:ext cx="182880" cy="182880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16" name="Text 14"/>
          <p:cNvSpPr/>
          <p:nvPr/>
        </p:nvSpPr>
        <p:spPr>
          <a:xfrm>
            <a:off x="7333488" y="40416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Pools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281160" y="4023360"/>
            <a:ext cx="22860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82328" y="4306824"/>
            <a:ext cx="182880" cy="182880"/>
          </a:xfrm>
          <a:prstGeom prst="ellipse">
            <a:avLst/>
          </a:prstGeom>
          <a:solidFill>
            <a:srgbClr val="46586B"/>
          </a:solidFill>
          <a:ln/>
        </p:spPr>
      </p:sp>
      <p:sp>
        <p:nvSpPr>
          <p:cNvPr id="19" name="Text 17"/>
          <p:cNvSpPr/>
          <p:nvPr/>
        </p:nvSpPr>
        <p:spPr>
          <a:xfrm>
            <a:off x="9756648" y="40416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Coating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0" y="4937760"/>
            <a:ext cx="22860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59168" y="5221224"/>
            <a:ext cx="182880" cy="182880"/>
          </a:xfrm>
          <a:prstGeom prst="ellipse">
            <a:avLst/>
          </a:prstGeom>
          <a:solidFill>
            <a:srgbClr val="A9632F"/>
          </a:solidFill>
          <a:ln/>
        </p:spPr>
      </p:sp>
      <p:sp>
        <p:nvSpPr>
          <p:cNvPr id="22" name="Text 20"/>
          <p:cNvSpPr/>
          <p:nvPr/>
        </p:nvSpPr>
        <p:spPr>
          <a:xfrm>
            <a:off x="7333488" y="49560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Renovation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281160" y="4937760"/>
            <a:ext cx="22860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82328" y="5221224"/>
            <a:ext cx="182880" cy="182880"/>
          </a:xfrm>
          <a:prstGeom prst="ellipse">
            <a:avLst/>
          </a:prstGeom>
          <a:solidFill>
            <a:srgbClr val="3E9B5F"/>
          </a:solidFill>
          <a:ln/>
        </p:spPr>
      </p:sp>
      <p:sp>
        <p:nvSpPr>
          <p:cNvPr id="25" name="Text 23"/>
          <p:cNvSpPr/>
          <p:nvPr/>
        </p:nvSpPr>
        <p:spPr>
          <a:xfrm>
            <a:off x="9756648" y="49560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Service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94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6035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isn’t an AI project.</a:t>
            </a:r>
            <a:endParaRPr lang="en-US" sz="44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a spine.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3200400"/>
            <a:ext cx="5943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9C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one connected system first — where leads, jobs, costs, and pay all join up.</a:t>
            </a:r>
            <a:endParaRPr lang="en-US" sz="1600" dirty="0"/>
          </a:p>
          <a:p>
            <a:pPr algn="l" indent="0" marL="0">
              <a:lnSpc>
                <a:spcPts val="23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automation and AI multiply it.</a:t>
            </a:r>
            <a:endParaRPr lang="en-US" sz="16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9C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Bolt AI onto disconnected spreadsheets and you don’t fix the mess — you just make it run faster.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052560" y="1463040"/>
            <a:ext cx="0" cy="3931920"/>
          </a:xfrm>
          <a:prstGeom prst="line">
            <a:avLst/>
          </a:prstGeom>
          <a:noFill/>
          <a:ln w="31750">
            <a:solidFill>
              <a:srgbClr val="A1CC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87968" y="1371600"/>
            <a:ext cx="329184" cy="329184"/>
          </a:xfrm>
          <a:prstGeom prst="ellipse">
            <a:avLst/>
          </a:prstGeom>
          <a:solidFill>
            <a:srgbClr val="A1CCCA"/>
          </a:solidFill>
          <a:ln w="25400">
            <a:solidFill>
              <a:srgbClr val="1B1C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64040" y="1252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6404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who’s coming 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887968" y="2697480"/>
            <a:ext cx="329184" cy="329184"/>
          </a:xfrm>
          <a:prstGeom prst="ellipse">
            <a:avLst/>
          </a:prstGeom>
          <a:solidFill>
            <a:srgbClr val="A1CCCA"/>
          </a:solidFill>
          <a:ln w="25400">
            <a:solidFill>
              <a:srgbClr val="1B1C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64040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64040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we’re building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87968" y="4023360"/>
            <a:ext cx="329184" cy="329184"/>
          </a:xfrm>
          <a:prstGeom prst="ellipse">
            <a:avLst/>
          </a:prstGeom>
          <a:solidFill>
            <a:srgbClr val="A1CCCA"/>
          </a:solidFill>
          <a:ln w="25400">
            <a:solidFill>
              <a:srgbClr val="1B1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4040" y="3904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6404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really costs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87968" y="5349240"/>
            <a:ext cx="329184" cy="329184"/>
          </a:xfrm>
          <a:prstGeom prst="ellipse">
            <a:avLst/>
          </a:prstGeom>
          <a:solidFill>
            <a:srgbClr val="A1CCCA"/>
          </a:solidFill>
          <a:ln w="25400">
            <a:solidFill>
              <a:srgbClr val="1B1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40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64040" y="5532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people earn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76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VERTICALS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verticals, one brand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267712"/>
            <a:ext cx="310896" cy="310896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7" name="Text 5"/>
          <p:cNvSpPr/>
          <p:nvPr/>
        </p:nvSpPr>
        <p:spPr>
          <a:xfrm>
            <a:off x="1344168" y="22128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Pools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Gunite builds, remodels, spas &amp; features. The flagship ticket.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9048" y="19202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19088" y="2267712"/>
            <a:ext cx="310896" cy="310896"/>
          </a:xfrm>
          <a:prstGeom prst="ellipse">
            <a:avLst/>
          </a:prstGeom>
          <a:solidFill>
            <a:srgbClr val="46586B"/>
          </a:solidFill>
          <a:ln/>
        </p:spPr>
      </p:sp>
      <p:sp>
        <p:nvSpPr>
          <p:cNvPr id="11" name="Text 9"/>
          <p:cNvSpPr/>
          <p:nvPr/>
        </p:nvSpPr>
        <p:spPr>
          <a:xfrm>
            <a:off x="6876288" y="22128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Coating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46520" y="28346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Garages, patios, shops. Day-one installs and today’s volume.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06908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86968" y="4416552"/>
            <a:ext cx="310896" cy="310896"/>
          </a:xfrm>
          <a:prstGeom prst="ellipse">
            <a:avLst/>
          </a:prstGeom>
          <a:solidFill>
            <a:srgbClr val="A9632F"/>
          </a:solidFill>
          <a:ln/>
        </p:spPr>
      </p:sp>
      <p:sp>
        <p:nvSpPr>
          <p:cNvPr id="15" name="Text 13"/>
          <p:cNvSpPr/>
          <p:nvPr/>
        </p:nvSpPr>
        <p:spPr>
          <a:xfrm>
            <a:off x="1344168" y="4361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Renovation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14400" y="49834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Kitchens, baths, additions. One accountable contractor.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99048" y="406908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19088" y="4416552"/>
            <a:ext cx="310896" cy="310896"/>
          </a:xfrm>
          <a:prstGeom prst="ellipse">
            <a:avLst/>
          </a:prstGeom>
          <a:solidFill>
            <a:srgbClr val="3E9B5F"/>
          </a:solidFill>
          <a:ln/>
        </p:spPr>
      </p:sp>
      <p:sp>
        <p:nvSpPr>
          <p:cNvPr id="19" name="Text 17"/>
          <p:cNvSpPr/>
          <p:nvPr/>
        </p:nvSpPr>
        <p:spPr>
          <a:xfrm>
            <a:off x="6876288" y="4361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Service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46520" y="49834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care &amp; repair. Now its own vertical — recurring revenue and the cross-sell engine.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515600" y="4224528"/>
            <a:ext cx="658368" cy="292608"/>
          </a:xfrm>
          <a:prstGeom prst="rect">
            <a:avLst/>
          </a:prstGeom>
          <a:solidFill>
            <a:srgbClr val="3E9B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76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WORK BREAKS DOWN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has two halves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OFFICE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2606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&amp; convert work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32688" y="34290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&amp; lead capture</a:t>
            </a:r>
            <a:endParaRPr lang="en-US" sz="1450" dirty="0"/>
          </a:p>
          <a:p>
            <a:pPr algn="l"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ad spend</a:t>
            </a:r>
            <a:endParaRPr lang="en-US" sz="1450" dirty="0"/>
          </a:p>
          <a:p>
            <a:pPr algn="l"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&amp; follow-up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64224" y="196596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9984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OFFICE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29984" y="2606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Price, build &amp; get paid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729984" y="34290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Estimating &amp; proposals</a:t>
            </a:r>
            <a:endParaRPr lang="en-US" sz="1450" dirty="0"/>
          </a:p>
          <a:p>
            <a:pPr algn="l"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costing</a:t>
            </a:r>
            <a:endParaRPr lang="en-US" sz="1450" dirty="0"/>
          </a:p>
          <a:p>
            <a:pPr algn="l"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6928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halves are broken the same way today: nothing is connected, so nothing is measured.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76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OFFICE · 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lead looks the same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892808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“which service?” field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0248" y="201168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0288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5596128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number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across all four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73568" y="201168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93608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299448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routing, no owner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4297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</a:t>
            </a:r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close rate by vertical, no cost-per-job by vertical, and Facebook spend flying blind. The highest-ticket line — pools — is the least visible of all.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76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OFFICE · THE FIX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funnels, every lead tagged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clear paths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0" y="18745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visitor self-selects the right vertical the moment they land.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16352"/>
            <a:ext cx="502920" cy="50292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7706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Speed-to-lead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4880" y="27706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lead answered automatically in under 5 minutes — the biggest conversion lever there is.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502920" cy="50292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6667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attribution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54880" y="366674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lead carries its vertical and its source, so every dollar is traceable.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608576"/>
            <a:ext cx="502920" cy="50292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08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45628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that chase revenue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754880" y="456285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learns to optimize for won jobs, not form fills.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9E5D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806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prototyped:  </a:t>
            </a:r>
            <a:pPr algn="l" indent="0" marL="0">
              <a:buNone/>
            </a:pPr>
            <a:r>
              <a:rPr lang="en-US" sz="13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clickable, on-brand site mockup and two build-ready engineering packages.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76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OFFICE · 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lives in</a:t>
            </a:r>
            <a:endParaRPr lang="en-US" sz="3400" dirty="0"/>
          </a:p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people’s heads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3504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E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 takeoff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depend on who builds them — no two are alike, and none can be checked.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E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794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don’t tie to jobs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60120" y="41605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truckload of material spans four pools. Which job pays for it? Right now, nobody can say.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" y="5010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E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937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Commissions aren’t standard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60120" y="53035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isn’t consistently tied to what a job actually earns.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2286000"/>
            <a:ext cx="46634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69480" y="2651760"/>
            <a:ext cx="868680" cy="685800"/>
          </a:xfrm>
          <a:prstGeom prst="roundRect">
            <a:avLst>
              <a:gd name="adj" fmla="val 8000"/>
            </a:avLst>
          </a:prstGeom>
          <a:solidFill>
            <a:srgbClr val="1B1C1E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26517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truckload of rebar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69480" y="370332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E9E5DE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0" y="3986784"/>
            <a:ext cx="201168" cy="201168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7033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418320" y="370332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E9E5DE"/>
          </a:solidFill>
          <a:ln/>
        </p:spPr>
      </p:sp>
      <p:sp>
        <p:nvSpPr>
          <p:cNvPr id="22" name="Shape 20"/>
          <p:cNvSpPr/>
          <p:nvPr/>
        </p:nvSpPr>
        <p:spPr>
          <a:xfrm>
            <a:off x="9646920" y="3986784"/>
            <a:ext cx="201168" cy="201168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23" name="Text 21"/>
          <p:cNvSpPr/>
          <p:nvPr/>
        </p:nvSpPr>
        <p:spPr>
          <a:xfrm>
            <a:off x="9921240" y="37033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69480" y="466344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E9E5DE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0" y="4946904"/>
            <a:ext cx="201168" cy="201168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4663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418320" y="466344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E9E5DE"/>
          </a:solidFill>
          <a:ln/>
        </p:spPr>
      </p:sp>
      <p:sp>
        <p:nvSpPr>
          <p:cNvPr id="28" name="Shape 26"/>
          <p:cNvSpPr/>
          <p:nvPr/>
        </p:nvSpPr>
        <p:spPr>
          <a:xfrm>
            <a:off x="9646920" y="4946904"/>
            <a:ext cx="201168" cy="201168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29" name="Text 27"/>
          <p:cNvSpPr/>
          <p:nvPr/>
        </p:nvSpPr>
        <p:spPr>
          <a:xfrm>
            <a:off x="9921240" y="4663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69480" y="5532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which job pays?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76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OFFICE · THE FIX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 that prices and proves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95144"/>
            <a:ext cx="548640" cy="548640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295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27048" y="2167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takeoff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7048" y="25420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pricing from the design — quotes out in 24 hours.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48" y="196596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73368" y="2295144"/>
            <a:ext cx="548640" cy="548640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2295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59168" y="2167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costs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59168" y="25420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line tied to a real quantity, per job. Nothing unaccounted for.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38328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3712464"/>
            <a:ext cx="548640" cy="548640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712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27048" y="3584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True-profit commissions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7048" y="39593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on reconciled job profit, in stages — fair to the rep and the company.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99048" y="338328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73368" y="3712464"/>
            <a:ext cx="548640" cy="548640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3712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59168" y="3584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QuickBooks-connected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59168" y="39593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costs flow to the books automatically, not by hand.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50292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1C1E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02920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 </a:t>
            </a:r>
            <a:pPr algn="l" indent="0" marL="0">
              <a:buNone/>
            </a:pPr>
            <a:r>
              <a:rPr lang="en-US" sz="1350" dirty="0">
                <a:solidFill>
                  <a:srgbClr val="E7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reverse-engineered a full pool takeoff end-to-end — every dollar traces back to a quantity. The method works.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94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6035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concept — already moving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1488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984248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website mockup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984248" y="28072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9B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clickable and on-brand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9048" y="21488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7516368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Build-ready packages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516368" y="28072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9B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+ lead engine, spec’d to hand off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39776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1984248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Verticals mapped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984248" y="46360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9B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end-to-end, front to back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99048" y="39776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600" dirty="0"/>
          </a:p>
        </p:txBody>
      </p:sp>
      <p:sp>
        <p:nvSpPr>
          <p:cNvPr id="15" name="Text 13"/>
          <p:cNvSpPr/>
          <p:nvPr/>
        </p:nvSpPr>
        <p:spPr>
          <a:xfrm>
            <a:off x="7516368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quantity takeoff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516368" y="46360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9B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proving the estimating spine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build the moment it’s greenlit.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76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phases, each earns the next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2670048" cy="32004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86000"/>
            <a:ext cx="658368" cy="658368"/>
          </a:xfrm>
          <a:prstGeom prst="ellipse">
            <a:avLst/>
          </a:prstGeom>
          <a:solidFill>
            <a:srgbClr val="2F6B67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286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41248" y="312724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340156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8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&amp; Convert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4114800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+ Lead 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480060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NOW · no blockers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18688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383280" y="2011680"/>
            <a:ext cx="2670048" cy="32004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0" y="2286000"/>
            <a:ext cx="658368" cy="658368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286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657600" y="312724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340156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8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&amp; Prove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0" y="4114800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Estimating + cost spine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480060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inputs needed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199632" y="2011680"/>
            <a:ext cx="2670048" cy="32004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3952" y="2286000"/>
            <a:ext cx="658368" cy="658368"/>
          </a:xfrm>
          <a:prstGeom prst="ellipse">
            <a:avLst/>
          </a:prstGeom>
          <a:solidFill>
            <a:srgbClr val="46586B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2286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73952" y="312724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73952" y="340156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8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&amp; Manage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73952" y="4114800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engine + CRM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73952" y="480060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65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on Phase 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51392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015984" y="2011680"/>
            <a:ext cx="2670048" cy="32004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4CFC5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290304" y="2286000"/>
            <a:ext cx="658368" cy="658368"/>
          </a:xfrm>
          <a:prstGeom prst="ellipse">
            <a:avLst/>
          </a:prstGeom>
          <a:solidFill>
            <a:srgbClr val="A9632F"/>
          </a:solidFill>
          <a:ln/>
        </p:spPr>
      </p:sp>
      <p:sp>
        <p:nvSpPr>
          <p:cNvPr id="31" name="Text 29"/>
          <p:cNvSpPr/>
          <p:nvPr/>
        </p:nvSpPr>
        <p:spPr>
          <a:xfrm>
            <a:off x="9290304" y="2286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290304" y="312724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90304" y="340156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800" b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90304" y="4114800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4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· Google · revenue-optimized ads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90304" y="480060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6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multiplier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1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pays for itself by making every marketing dollar measurable — that funds everything after it.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94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6035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looks like when it’s done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240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 dollar traces to a won job — by vertical.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02666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answered in minutes, not days.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813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out in 24 hours, fully documented.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45994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Crews paid on real, reconciled profit.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6928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system.  Four crews.  One standard.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pex-Site-Logo-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3984" y="1188720"/>
            <a:ext cx="3300984" cy="7863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6517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Phase 1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194560" y="36118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9C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website and lead engine are designed, spec’d, and ready to build — with no dependencies. It starts capturing measurable leads immediately and makes the case for everything after it.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54406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700" kern="0" dirty="0">
                <a:solidFill>
                  <a:srgbClr val="A1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IT DONE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2026-07-27T20:28:25Z</dcterms:created>
  <dcterms:modified xsi:type="dcterms:W3CDTF">2026-07-27T20:28:25Z</dcterms:modified>
</cp:coreProperties>
</file>